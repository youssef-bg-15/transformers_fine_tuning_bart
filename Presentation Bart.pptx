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7" r:id="rId2"/>
    <p:sldId id="298" r:id="rId3"/>
    <p:sldId id="301" r:id="rId4"/>
    <p:sldId id="300" r:id="rId5"/>
    <p:sldId id="302" r:id="rId6"/>
    <p:sldId id="303" r:id="rId7"/>
    <p:sldId id="304" r:id="rId8"/>
    <p:sldId id="305" r:id="rId9"/>
    <p:sldId id="306" r:id="rId10"/>
    <p:sldId id="307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E22F8-B35D-4F10-903B-7C82CC2F6CEC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1A648-A3CB-4BE7-B795-8BE44FF1A66A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2989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1A648-A3CB-4BE7-B795-8BE44FF1A66A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8657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AE50-157B-BF37-5A93-9A7E7D17B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E7954-3FBB-2E4D-4F44-93446EA28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62CEE-E248-B215-F739-B1E04711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E3A6E-6BB2-EB51-89FD-D12B09DD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3F59-FCBD-6D4B-7DB8-6BBCC9FA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784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8A45-16CE-1943-9820-B6619E819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92BCA-F616-CEF7-7F88-0BFE0508A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C32A5-446F-859E-785A-7C2DA4659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B7FAF-39C0-F457-FA89-33BE8566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0577B-3C76-311D-8C03-F7B69713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641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B4FA-387B-7BEB-3096-1945835D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B7EA9-4A39-A279-4570-B3A3ED410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06797-A803-A276-286B-3ADBD8E4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2D7A5-55C8-3132-5F8F-FFC193F0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3EE31-D3F8-7981-2F15-6DB3F5E3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371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5CCE-AA63-8791-827E-147BBADC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148E2-5741-45AA-9F54-76A7E478E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94E12-8F88-8A4E-9AA8-34387831C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7FB79-7FD7-B614-9D14-6ADA8296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24494-4D7B-E018-E4B8-38504881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B4BB6-F7A1-A85C-7373-BF94E703E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358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1034-83E0-540B-3E3F-7132A30D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E1B54-0BEE-E15B-69AB-13C2F8F26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1342D-35A2-B68A-C1F5-D07B39C6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92E00-0A4D-C165-94ED-24A5D09C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F807D-293B-44B5-3341-26EC49129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FF4C86-8B9D-786D-3B95-8C5F7C99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73A95-CEF2-30AD-06C2-70F3132F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5EE8A0-24BA-B747-E5D7-15036345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972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EB875-8F93-8FDF-1301-8D2EBFEE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7BF8A-67F4-9160-7D5A-F72DBEBC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67556-0934-0662-917E-F8DAAFF5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A0453-4454-6FDD-5B85-C05A598C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37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81D28-546D-027D-A1B1-98659F07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AB313-51B3-527C-503E-9125CD36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BD5E7-9C66-EC11-3CA1-6D17B61D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252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84E9-D750-0CDD-CD1C-52DE75C9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AD953-21EC-257C-D7C4-8926EE9C4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C1169-7507-6B0C-8315-34DAF830F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5DA71-4E4C-CA72-FB12-A824A9BA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48ECC-6471-9738-50E7-01EBB409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E6026-EEA9-0E75-466C-0680016D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600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4972-86D7-F9F7-02A7-9F2202BC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3A354-A813-6423-0BA6-4848B613F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CDFD8-C671-3B35-A028-F41A1B0AB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8D9DB-D296-A3E4-96F7-83BA08F0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44D6A-4863-8F10-AF8E-AF53E286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78D66-C831-1592-E90E-58D9312A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644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F486-DE33-1751-9FC7-400C7747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255F8-360A-6E38-E5FB-D33927CF2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635CA-834B-83CE-B483-486D2825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0C49-CA5A-4060-47BE-04D15C96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27434-7FBC-EB0C-F118-C1AF1D0A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534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A6EE0-EAF4-512E-E1B1-9720F67D3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D0F6D-5648-1C01-F3EB-68C6D2710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21DD6-1BEC-B4CF-8339-8DB748D6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14FFE-4064-C2C5-CB18-0D86B71B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9AB4-7E05-658B-7788-338943F5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644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873B6-D36D-CFAD-CBCF-F92C5BC7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07A81-8B40-2EB6-C675-6A00AF02D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539C1-4189-551F-8222-0EF6FE632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A84BE-FB2D-41F9-BBD2-38308A71EDBB}" type="datetimeFigureOut">
              <a:rPr lang="LID4096" smtClean="0"/>
              <a:t>03/06/2025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60607-F971-FC32-91FD-2005A9B15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F3CBF-2D89-19B8-04EA-96F3DF757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7D9EF-23CA-43E0-A412-8CD4A175C1F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560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8EFF38-5561-2EAF-36A5-41CF6625DE29}"/>
              </a:ext>
            </a:extLst>
          </p:cNvPr>
          <p:cNvSpPr/>
          <p:nvPr/>
        </p:nvSpPr>
        <p:spPr>
          <a:xfrm>
            <a:off x="1921267" y="308225"/>
            <a:ext cx="8763857" cy="23630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Modélisation avec Transformers : Fine-Tuning de BART pour le Résumé de Dialogues</a:t>
            </a:r>
          </a:p>
          <a:p>
            <a:pPr algn="ctr"/>
            <a:endParaRPr lang="fr-FR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E04C92C-4794-8B6F-2BCD-0DBACE4A54EF}"/>
              </a:ext>
            </a:extLst>
          </p:cNvPr>
          <p:cNvSpPr txBox="1"/>
          <p:nvPr/>
        </p:nvSpPr>
        <p:spPr>
          <a:xfrm>
            <a:off x="924675" y="3010328"/>
            <a:ext cx="492132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.</a:t>
            </a:r>
            <a:r>
              <a:rPr lang="fr-FR" sz="2800" dirty="0"/>
              <a:t> </a:t>
            </a:r>
            <a:r>
              <a:rPr lang="fr-FR" sz="2800" b="1" u="sng" dirty="0"/>
              <a:t>Objectif : </a:t>
            </a:r>
            <a:r>
              <a:rPr lang="fr-FR" sz="2800" dirty="0"/>
              <a:t>"Présenter une implémentation d’un modèle Transformer pour le résumé de dialogues avec BART, en respectant les exigences du projet."</a:t>
            </a:r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CFA4264-7500-D38F-A468-1BB4E98D9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10328"/>
            <a:ext cx="5572017" cy="334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80F656-25AD-6C0C-DFBC-8B3F9943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80" y="123621"/>
            <a:ext cx="10515600" cy="1325563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accent2"/>
                </a:solidFill>
              </a:rPr>
              <a:t>Architecture Choisie : BART (Encoder-</a:t>
            </a:r>
            <a:r>
              <a:rPr lang="fr-FR" sz="4000" b="1" dirty="0" err="1">
                <a:solidFill>
                  <a:schemeClr val="accent2"/>
                </a:solidFill>
              </a:rPr>
              <a:t>Decoder</a:t>
            </a:r>
            <a:r>
              <a:rPr lang="fr-FR" sz="4000" b="1" dirty="0">
                <a:solidFill>
                  <a:schemeClr val="accent2"/>
                </a:solidFill>
              </a:rPr>
              <a:t>)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34DF523-CA1F-5DFD-DF2F-89F96A4AF818}"/>
              </a:ext>
            </a:extLst>
          </p:cNvPr>
          <p:cNvCxnSpPr/>
          <p:nvPr/>
        </p:nvCxnSpPr>
        <p:spPr>
          <a:xfrm>
            <a:off x="352746" y="1320818"/>
            <a:ext cx="1148650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D64B09D2-F8B9-A61C-1713-57A486C8DC2A}"/>
              </a:ext>
            </a:extLst>
          </p:cNvPr>
          <p:cNvSpPr txBox="1"/>
          <p:nvPr/>
        </p:nvSpPr>
        <p:spPr>
          <a:xfrm>
            <a:off x="349321" y="1538924"/>
            <a:ext cx="5309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. </a:t>
            </a:r>
            <a:r>
              <a:rPr lang="fr-FR" sz="2800" b="1" dirty="0"/>
              <a:t>Modèle : </a:t>
            </a:r>
            <a:r>
              <a:rPr lang="fr-FR" sz="2800" dirty="0"/>
              <a:t>BART-base (Facebook)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363D730-B7CE-D0DB-173E-9332E643FDA3}"/>
              </a:ext>
            </a:extLst>
          </p:cNvPr>
          <p:cNvSpPr txBox="1"/>
          <p:nvPr/>
        </p:nvSpPr>
        <p:spPr>
          <a:xfrm>
            <a:off x="349321" y="1914556"/>
            <a:ext cx="742337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. </a:t>
            </a:r>
            <a:r>
              <a:rPr lang="fr-FR" sz="2800" b="1" dirty="0"/>
              <a:t>Structure :</a:t>
            </a:r>
          </a:p>
          <a:p>
            <a:r>
              <a:rPr lang="fr-FR" sz="2800" b="1" dirty="0"/>
              <a:t>      1. </a:t>
            </a:r>
            <a:r>
              <a:rPr lang="fr-FR" sz="2800" dirty="0"/>
              <a:t>Encoder : 6 couches, 12 têtes d’attention</a:t>
            </a:r>
          </a:p>
          <a:p>
            <a:r>
              <a:rPr lang="fr-FR" sz="2800" b="1" dirty="0"/>
              <a:t>       2. </a:t>
            </a:r>
            <a:r>
              <a:rPr lang="fr-FR" sz="2800" dirty="0" err="1"/>
              <a:t>Decoder</a:t>
            </a:r>
            <a:r>
              <a:rPr lang="fr-FR" sz="2800" dirty="0"/>
              <a:t> : 6 couches, 12 têtes d’attention</a:t>
            </a:r>
          </a:p>
          <a:p>
            <a:r>
              <a:rPr lang="fr-FR" sz="2800" b="1" dirty="0"/>
              <a:t>       3. </a:t>
            </a:r>
            <a:r>
              <a:rPr lang="fr-FR" sz="2800" dirty="0"/>
              <a:t>Taille des </a:t>
            </a:r>
            <a:r>
              <a:rPr lang="fr-FR" sz="2800" dirty="0" err="1"/>
              <a:t>embeddings</a:t>
            </a:r>
            <a:r>
              <a:rPr lang="fr-FR" sz="2800" dirty="0"/>
              <a:t> : 768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F72F1F-6D97-1E21-C524-7CCFE0E98530}"/>
              </a:ext>
            </a:extLst>
          </p:cNvPr>
          <p:cNvSpPr txBox="1"/>
          <p:nvPr/>
        </p:nvSpPr>
        <p:spPr>
          <a:xfrm>
            <a:off x="7821134" y="1449184"/>
            <a:ext cx="42192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. Justification : </a:t>
            </a:r>
            <a:r>
              <a:rPr lang="fr-FR" sz="2800" dirty="0"/>
              <a:t>Bart est parfait pour les tâches de compréhension et génération -&gt; idéal pour le résumé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DE5C98E-0FF1-0AAD-AD35-2239DBF1A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97" y="3858803"/>
            <a:ext cx="8569134" cy="2999197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9498B16-2814-6E36-4069-A24B1BF14675}"/>
              </a:ext>
            </a:extLst>
          </p:cNvPr>
          <p:cNvCxnSpPr>
            <a:cxnSpLocks/>
          </p:cNvCxnSpPr>
          <p:nvPr/>
        </p:nvCxnSpPr>
        <p:spPr>
          <a:xfrm>
            <a:off x="7772700" y="1449184"/>
            <a:ext cx="0" cy="217651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17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0FBA-D12B-29C2-D15A-A71716C9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12ADAF-C42F-66BC-41D2-BAF20688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b="1" dirty="0">
                <a:solidFill>
                  <a:schemeClr val="accent2"/>
                </a:solidFill>
              </a:rPr>
              <a:t>Outils utilisés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EBDAB03-B598-90CF-2429-94635D7E5044}"/>
              </a:ext>
            </a:extLst>
          </p:cNvPr>
          <p:cNvCxnSpPr/>
          <p:nvPr/>
        </p:nvCxnSpPr>
        <p:spPr>
          <a:xfrm>
            <a:off x="349321" y="1690688"/>
            <a:ext cx="1148650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CA38F495-127C-55BD-D05A-94E83B0AB8FD}"/>
              </a:ext>
            </a:extLst>
          </p:cNvPr>
          <p:cNvSpPr txBox="1"/>
          <p:nvPr/>
        </p:nvSpPr>
        <p:spPr>
          <a:xfrm>
            <a:off x="3980284" y="3746543"/>
            <a:ext cx="821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. </a:t>
            </a:r>
            <a:r>
              <a:rPr lang="fr-FR" sz="2800" b="1" dirty="0"/>
              <a:t>Dataset : </a:t>
            </a:r>
            <a:r>
              <a:rPr lang="fr-FR" sz="2800" dirty="0"/>
              <a:t>Pour charger DialogSum facilement.</a:t>
            </a:r>
          </a:p>
          <a:p>
            <a:endParaRPr lang="fr-FR" sz="28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4070BB4-10E2-D6A9-0519-163F7D073EC0}"/>
              </a:ext>
            </a:extLst>
          </p:cNvPr>
          <p:cNvSpPr txBox="1"/>
          <p:nvPr/>
        </p:nvSpPr>
        <p:spPr>
          <a:xfrm>
            <a:off x="3990558" y="4313284"/>
            <a:ext cx="8098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. </a:t>
            </a:r>
            <a:r>
              <a:rPr lang="fr-FR" sz="2800" b="1" dirty="0"/>
              <a:t>Transformers</a:t>
            </a:r>
            <a:r>
              <a:rPr lang="fr-FR" sz="2800" dirty="0"/>
              <a:t> : Pour utiliser facilement BART</a:t>
            </a:r>
          </a:p>
          <a:p>
            <a:r>
              <a:rPr lang="fr-FR" sz="2800" b="1" dirty="0"/>
              <a:t>      </a:t>
            </a:r>
            <a:endParaRPr lang="fr-FR" sz="28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8A21FD3-B7A8-B12A-C4F3-901207EA28DF}"/>
              </a:ext>
            </a:extLst>
          </p:cNvPr>
          <p:cNvSpPr txBox="1"/>
          <p:nvPr/>
        </p:nvSpPr>
        <p:spPr>
          <a:xfrm>
            <a:off x="3990558" y="4862928"/>
            <a:ext cx="8236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. Evaluate</a:t>
            </a:r>
            <a:r>
              <a:rPr lang="fr-FR" sz="2800" dirty="0"/>
              <a:t> : Pour mesurer la performance avec ROUGE.</a:t>
            </a:r>
          </a:p>
          <a:p>
            <a:endParaRPr lang="fr-FR" sz="2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335B9F2-24AD-D158-ACCE-B44E9679594E}"/>
              </a:ext>
            </a:extLst>
          </p:cNvPr>
          <p:cNvSpPr txBox="1"/>
          <p:nvPr/>
        </p:nvSpPr>
        <p:spPr>
          <a:xfrm>
            <a:off x="614059" y="1747600"/>
            <a:ext cx="114865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. </a:t>
            </a:r>
            <a:r>
              <a:rPr lang="fr-FR" sz="2800" b="1" dirty="0"/>
              <a:t>Hugging Face: </a:t>
            </a:r>
            <a:r>
              <a:rPr lang="fr-FR" sz="2800" dirty="0"/>
              <a:t>Une plateforme open-source qui fournit des outils pour le NLP.</a:t>
            </a:r>
          </a:p>
          <a:p>
            <a:endParaRPr lang="fr-FR" sz="2800" dirty="0"/>
          </a:p>
          <a:p>
            <a:endParaRPr lang="fr-FR" sz="2800" dirty="0"/>
          </a:p>
        </p:txBody>
      </p:sp>
      <p:pic>
        <p:nvPicPr>
          <p:cNvPr id="1028" name="Picture 4" descr="Pourquoi Stock Illustrations, Vecteurs, &amp; Clipart – (16,626 Stock  Illustrations)">
            <a:extLst>
              <a:ext uri="{FF2B5EF4-FFF2-40B4-BE49-F238E27FC236}">
                <a16:creationId xmlns:a16="http://schemas.microsoft.com/office/drawing/2014/main" id="{2F189EB7-CAFE-C844-7C23-27F8A2D3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11" y="2770064"/>
            <a:ext cx="2805007" cy="306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mocratizing AI: The Hugging Face Ethos of Accessible ML">
            <a:extLst>
              <a:ext uri="{FF2B5EF4-FFF2-40B4-BE49-F238E27FC236}">
                <a16:creationId xmlns:a16="http://schemas.microsoft.com/office/drawing/2014/main" id="{2640A89D-209E-54BE-088C-CC8896196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351" y="120024"/>
            <a:ext cx="2774021" cy="151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3EDB0DD-2C79-06AE-7C4B-E8433CDC1D69}"/>
              </a:ext>
            </a:extLst>
          </p:cNvPr>
          <p:cNvSpPr txBox="1"/>
          <p:nvPr/>
        </p:nvSpPr>
        <p:spPr>
          <a:xfrm>
            <a:off x="3277457" y="2713152"/>
            <a:ext cx="7009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>
                <a:solidFill>
                  <a:srgbClr val="FF0000"/>
                </a:solidFill>
              </a:rPr>
              <a:t>Pourquoi Hugging Face ?</a:t>
            </a:r>
          </a:p>
        </p:txBody>
      </p:sp>
    </p:spTree>
    <p:extLst>
      <p:ext uri="{BB962C8B-B14F-4D97-AF65-F5344CB8AC3E}">
        <p14:creationId xmlns:p14="http://schemas.microsoft.com/office/powerpoint/2010/main" val="591299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306C-FF1C-8057-04D6-DBEB4865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D91737-6EA4-2C9A-E257-4BAC0B54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60" y="52203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 b="1" dirty="0">
                <a:solidFill>
                  <a:schemeClr val="accent2"/>
                </a:solidFill>
              </a:rPr>
              <a:t>Dataset : DialogSum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AC44A5B-CB2F-FDCC-5C76-6C4BE3E0D5BC}"/>
              </a:ext>
            </a:extLst>
          </p:cNvPr>
          <p:cNvCxnSpPr/>
          <p:nvPr/>
        </p:nvCxnSpPr>
        <p:spPr>
          <a:xfrm>
            <a:off x="236306" y="1248899"/>
            <a:ext cx="1148650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B4886D30-A204-56B2-8F8C-D3B6C5686AEE}"/>
              </a:ext>
            </a:extLst>
          </p:cNvPr>
          <p:cNvSpPr txBox="1"/>
          <p:nvPr/>
        </p:nvSpPr>
        <p:spPr>
          <a:xfrm>
            <a:off x="616451" y="1484288"/>
            <a:ext cx="61644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 </a:t>
            </a:r>
            <a:r>
              <a:rPr lang="en-US" sz="2800" b="1" dirty="0"/>
              <a:t>Source : </a:t>
            </a:r>
            <a:r>
              <a:rPr lang="en-US" sz="2800" dirty="0"/>
              <a:t>Hugging Face    (</a:t>
            </a:r>
            <a:r>
              <a:rPr lang="en-US" sz="2800" dirty="0" err="1"/>
              <a:t>knkarthick</a:t>
            </a:r>
            <a:r>
              <a:rPr lang="en-US" sz="2800" dirty="0"/>
              <a:t>/</a:t>
            </a:r>
            <a:r>
              <a:rPr lang="en-US" sz="2800" dirty="0" err="1"/>
              <a:t>dialogsum</a:t>
            </a:r>
            <a:r>
              <a:rPr lang="en-US" sz="2800" dirty="0"/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FA734D3-A41E-A0DE-ABDC-2A21878FFC7A}"/>
              </a:ext>
            </a:extLst>
          </p:cNvPr>
          <p:cNvSpPr txBox="1"/>
          <p:nvPr/>
        </p:nvSpPr>
        <p:spPr>
          <a:xfrm>
            <a:off x="616451" y="3291902"/>
            <a:ext cx="6011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. </a:t>
            </a:r>
            <a:r>
              <a:rPr lang="fr-FR" sz="2400" b="1" dirty="0"/>
              <a:t>Objectif : </a:t>
            </a:r>
            <a:r>
              <a:rPr lang="fr-FR" sz="2400" dirty="0"/>
              <a:t>Fine-tuner BART pour générer des résumés précis à partir de dialogues.</a:t>
            </a:r>
          </a:p>
          <a:p>
            <a:endParaRPr lang="fr-FR" sz="2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BEB7601-58E8-AF4F-B3AC-BBB064F4376B}"/>
              </a:ext>
            </a:extLst>
          </p:cNvPr>
          <p:cNvSpPr txBox="1"/>
          <p:nvPr/>
        </p:nvSpPr>
        <p:spPr>
          <a:xfrm>
            <a:off x="616451" y="2363678"/>
            <a:ext cx="4616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. </a:t>
            </a:r>
            <a:r>
              <a:rPr lang="fr-FR" sz="2400" b="1" dirty="0"/>
              <a:t>Contenu : </a:t>
            </a:r>
            <a:r>
              <a:rPr lang="fr-FR" sz="2400" dirty="0"/>
              <a:t>Dialogues avec résumés annotés</a:t>
            </a:r>
          </a:p>
          <a:p>
            <a:endParaRPr lang="fr-FR" sz="28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A91847-681D-23B0-9DE9-1434661512FB}"/>
              </a:ext>
            </a:extLst>
          </p:cNvPr>
          <p:cNvSpPr txBox="1"/>
          <p:nvPr/>
        </p:nvSpPr>
        <p:spPr>
          <a:xfrm>
            <a:off x="5974170" y="1715945"/>
            <a:ext cx="601175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. </a:t>
            </a:r>
            <a:r>
              <a:rPr lang="fr-FR" sz="4000" b="1" dirty="0"/>
              <a:t>Exemple:</a:t>
            </a:r>
          </a:p>
          <a:p>
            <a:r>
              <a:rPr lang="fr-FR" sz="2800" dirty="0"/>
              <a:t>    Dialogue : Salut ça va ? Oui et toi ?</a:t>
            </a:r>
          </a:p>
          <a:p>
            <a:r>
              <a:rPr lang="fr-FR" sz="2800" dirty="0"/>
              <a:t>    </a:t>
            </a:r>
          </a:p>
          <a:p>
            <a:r>
              <a:rPr lang="fr-FR" sz="2800" dirty="0"/>
              <a:t>             Résumé : Salutations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49FF09-0F9A-42EF-5207-CF311780E739}"/>
              </a:ext>
            </a:extLst>
          </p:cNvPr>
          <p:cNvSpPr/>
          <p:nvPr/>
        </p:nvSpPr>
        <p:spPr>
          <a:xfrm>
            <a:off x="616451" y="4690265"/>
            <a:ext cx="2671281" cy="1323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b="1" dirty="0"/>
              <a:t>    Texte brut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8BA669-83C7-883A-9DD7-F85F90C2D800}"/>
              </a:ext>
            </a:extLst>
          </p:cNvPr>
          <p:cNvSpPr/>
          <p:nvPr/>
        </p:nvSpPr>
        <p:spPr>
          <a:xfrm>
            <a:off x="4655763" y="4696645"/>
            <a:ext cx="2671281" cy="1323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000" b="1" dirty="0"/>
              <a:t>   Modèle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F11F12-B84C-3351-CABE-4FF4461AB5FF}"/>
              </a:ext>
            </a:extLst>
          </p:cNvPr>
          <p:cNvSpPr/>
          <p:nvPr/>
        </p:nvSpPr>
        <p:spPr>
          <a:xfrm>
            <a:off x="9051533" y="4696645"/>
            <a:ext cx="2671281" cy="1323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000" b="1" dirty="0"/>
              <a:t>   Résumé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B94544D-5822-329D-011B-2E4635CD010B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3287732" y="5351985"/>
            <a:ext cx="1368031" cy="6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E345F1E-BBBC-41E9-0589-94CC81D2BA08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7327044" y="5358365"/>
            <a:ext cx="17244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A274970-CFAF-58B9-0282-C99218F5C2F4}"/>
              </a:ext>
            </a:extLst>
          </p:cNvPr>
          <p:cNvCxnSpPr/>
          <p:nvPr/>
        </p:nvCxnSpPr>
        <p:spPr>
          <a:xfrm>
            <a:off x="8763856" y="2716219"/>
            <a:ext cx="0" cy="575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602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3838-ECFA-25D6-4F70-78BE3A74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E73F5D-1CE6-7556-FE97-1367B55A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17" y="0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2"/>
                </a:solidFill>
              </a:rPr>
              <a:t>Méthodologie (Étapes du projet)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CB10430-8654-0FD8-3FC7-8C309547D15C}"/>
              </a:ext>
            </a:extLst>
          </p:cNvPr>
          <p:cNvCxnSpPr>
            <a:cxnSpLocks/>
          </p:cNvCxnSpPr>
          <p:nvPr/>
        </p:nvCxnSpPr>
        <p:spPr>
          <a:xfrm>
            <a:off x="-82193" y="1218077"/>
            <a:ext cx="1241118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3F87D38F-EC8D-85B0-21C9-1859844A2683}"/>
              </a:ext>
            </a:extLst>
          </p:cNvPr>
          <p:cNvSpPr txBox="1"/>
          <p:nvPr/>
        </p:nvSpPr>
        <p:spPr>
          <a:xfrm>
            <a:off x="1065642" y="3718299"/>
            <a:ext cx="574377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Préparation des données</a:t>
            </a:r>
            <a:r>
              <a:rPr lang="fr-FR" sz="2400" dirty="0"/>
              <a:t> : Tokeniser</a:t>
            </a:r>
          </a:p>
          <a:p>
            <a:r>
              <a:rPr lang="fr-FR" sz="2400" dirty="0"/>
              <a:t> les dialogues et résumés avec  </a:t>
            </a:r>
            <a:r>
              <a:rPr lang="fr-FR" sz="2400" b="1" dirty="0">
                <a:solidFill>
                  <a:srgbClr val="FF0000"/>
                </a:solidFill>
              </a:rPr>
              <a:t>AutoTokenizer</a:t>
            </a:r>
            <a:r>
              <a:rPr lang="fr-FR" sz="2400" dirty="0"/>
              <a:t>, en limitant à </a:t>
            </a:r>
            <a:r>
              <a:rPr lang="fr-FR" sz="2400" b="1" dirty="0">
                <a:solidFill>
                  <a:srgbClr val="FF0000"/>
                </a:solidFill>
              </a:rPr>
              <a:t>128 tokens </a:t>
            </a:r>
            <a:r>
              <a:rPr lang="fr-FR" sz="2400" dirty="0"/>
              <a:t>avec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b="1" dirty="0">
                <a:solidFill>
                  <a:srgbClr val="FF0000"/>
                </a:solidFill>
              </a:rPr>
              <a:t>padding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et un </a:t>
            </a:r>
            <a:r>
              <a:rPr lang="fr-FR" sz="2400" b="1" dirty="0">
                <a:solidFill>
                  <a:srgbClr val="FF0000"/>
                </a:solidFill>
              </a:rPr>
              <a:t>masque d’attention</a:t>
            </a:r>
            <a:r>
              <a:rPr lang="fr-FR" sz="2400" dirty="0"/>
              <a:t>.</a:t>
            </a:r>
          </a:p>
          <a:p>
            <a:endParaRPr lang="fr-FR" sz="2800" dirty="0"/>
          </a:p>
        </p:txBody>
      </p:sp>
      <p:pic>
        <p:nvPicPr>
          <p:cNvPr id="2050" name="Picture 2" descr="nombre 1 icône cercle vecteur illustration isolé sur blanc Contexte .  nombre un icône 26468776 Art vectoriel chez Vecteezy">
            <a:extLst>
              <a:ext uri="{FF2B5EF4-FFF2-40B4-BE49-F238E27FC236}">
                <a16:creationId xmlns:a16="http://schemas.microsoft.com/office/drawing/2014/main" id="{97859A03-544A-D00B-A62A-79EA167ED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4" y="1516970"/>
            <a:ext cx="701123" cy="70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454304B-4E72-9A82-1F96-77CA1EE1CE12}"/>
              </a:ext>
            </a:extLst>
          </p:cNvPr>
          <p:cNvSpPr txBox="1"/>
          <p:nvPr/>
        </p:nvSpPr>
        <p:spPr>
          <a:xfrm>
            <a:off x="1051429" y="1600149"/>
            <a:ext cx="586483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 Chargement des données</a:t>
            </a:r>
            <a:r>
              <a:rPr lang="fr-FR" sz="2400" dirty="0"/>
              <a:t> : Charger DialogSum avec load_dataset.</a:t>
            </a:r>
          </a:p>
          <a:p>
            <a:endParaRPr lang="fr-FR" sz="28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263B12F-A7F2-AFFA-AE54-8EB71BFAA47E}"/>
              </a:ext>
            </a:extLst>
          </p:cNvPr>
          <p:cNvSpPr txBox="1"/>
          <p:nvPr/>
        </p:nvSpPr>
        <p:spPr>
          <a:xfrm>
            <a:off x="1103583" y="2719096"/>
            <a:ext cx="5864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Test initial</a:t>
            </a:r>
            <a:r>
              <a:rPr lang="fr-FR" sz="2400" dirty="0"/>
              <a:t> : Tester Bart-large-cnn pré-entraîné pour voir une Baseline</a:t>
            </a:r>
            <a:r>
              <a:rPr lang="fr-FR" sz="2800" dirty="0"/>
              <a:t>.</a:t>
            </a:r>
          </a:p>
          <a:p>
            <a:endParaRPr lang="fr-FR" sz="28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4FB0A64-DFB6-5156-A22B-60EA139D2DDF}"/>
              </a:ext>
            </a:extLst>
          </p:cNvPr>
          <p:cNvSpPr txBox="1"/>
          <p:nvPr/>
        </p:nvSpPr>
        <p:spPr>
          <a:xfrm>
            <a:off x="6973584" y="1665646"/>
            <a:ext cx="498039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Fine-tuning</a:t>
            </a:r>
            <a:r>
              <a:rPr lang="fr-FR" sz="2400" dirty="0"/>
              <a:t> : Entraîner Bart-base sur DialogSum avec Trainer pendant </a:t>
            </a:r>
            <a:r>
              <a:rPr lang="fr-FR" sz="2400" b="1" dirty="0">
                <a:solidFill>
                  <a:srgbClr val="FF0000"/>
                </a:solidFill>
              </a:rPr>
              <a:t>3 époques</a:t>
            </a:r>
            <a:r>
              <a:rPr lang="fr-FR" sz="2400" dirty="0"/>
              <a:t>, </a:t>
            </a:r>
            <a:r>
              <a:rPr lang="fr-FR" sz="2400" b="1" dirty="0">
                <a:solidFill>
                  <a:srgbClr val="FF0000"/>
                </a:solidFill>
              </a:rPr>
              <a:t>Learning rate=5e-5</a:t>
            </a:r>
            <a:r>
              <a:rPr lang="fr-FR" sz="2400" dirty="0"/>
              <a:t>, </a:t>
            </a:r>
            <a:r>
              <a:rPr lang="fr-FR" sz="2400" b="1" dirty="0">
                <a:solidFill>
                  <a:srgbClr val="FF0000"/>
                </a:solidFill>
              </a:rPr>
              <a:t>weight_decay=0.01</a:t>
            </a:r>
            <a:r>
              <a:rPr lang="fr-FR" sz="2400" dirty="0"/>
              <a:t>.</a:t>
            </a:r>
          </a:p>
          <a:p>
            <a:endParaRPr lang="fr-FR" sz="28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CFFC19F-6902-6F10-8652-DCFFBB5254BC}"/>
              </a:ext>
            </a:extLst>
          </p:cNvPr>
          <p:cNvSpPr txBox="1"/>
          <p:nvPr/>
        </p:nvSpPr>
        <p:spPr>
          <a:xfrm>
            <a:off x="6973584" y="3483368"/>
            <a:ext cx="489022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Comparaison</a:t>
            </a:r>
            <a:r>
              <a:rPr lang="fr-FR" sz="2400" dirty="0"/>
              <a:t> : Générer des résumés avec le modèle pré-entraîné et fine-tuné, puis calculé ROUGE.</a:t>
            </a:r>
          </a:p>
          <a:p>
            <a:endParaRPr lang="fr-FR" sz="2800" dirty="0"/>
          </a:p>
        </p:txBody>
      </p:sp>
      <p:pic>
        <p:nvPicPr>
          <p:cNvPr id="2054" name="Picture 6" descr="Numéro 2 - Icônes interface gratuites">
            <a:extLst>
              <a:ext uri="{FF2B5EF4-FFF2-40B4-BE49-F238E27FC236}">
                <a16:creationId xmlns:a16="http://schemas.microsoft.com/office/drawing/2014/main" id="{C896F366-02C2-AB1D-59E3-EAACAB094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6" y="2619208"/>
            <a:ext cx="684994" cy="6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Numéro 3 - Icônes éducation gratuites">
            <a:extLst>
              <a:ext uri="{FF2B5EF4-FFF2-40B4-BE49-F238E27FC236}">
                <a16:creationId xmlns:a16="http://schemas.microsoft.com/office/drawing/2014/main" id="{0C1843E7-295F-29B7-D59E-DDE316454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6" y="3613501"/>
            <a:ext cx="708972" cy="70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ow to Plan for Business: 4 Parts of Planning | Greg Bustin">
            <a:extLst>
              <a:ext uri="{FF2B5EF4-FFF2-40B4-BE49-F238E27FC236}">
                <a16:creationId xmlns:a16="http://schemas.microsoft.com/office/drawing/2014/main" id="{2F0EE93B-E547-6FFD-2AF4-17DB8AF8F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042" y="1558161"/>
            <a:ext cx="634655" cy="63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ombre 5 icône cercle vecteur illustration sur isolé blanc Contexte .  nombre cinq icône 26468774 Art vectoriel chez Vecteezy">
            <a:extLst>
              <a:ext uri="{FF2B5EF4-FFF2-40B4-BE49-F238E27FC236}">
                <a16:creationId xmlns:a16="http://schemas.microsoft.com/office/drawing/2014/main" id="{FFD79F7E-CD87-64BB-1A3C-7C60012C4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948" y="3469548"/>
            <a:ext cx="526107" cy="52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92B0C40-84CE-2D86-2ACB-020BB63DB330}"/>
              </a:ext>
            </a:extLst>
          </p:cNvPr>
          <p:cNvSpPr/>
          <p:nvPr/>
        </p:nvSpPr>
        <p:spPr>
          <a:xfrm>
            <a:off x="323570" y="5408582"/>
            <a:ext cx="1560026" cy="1323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b="1" dirty="0"/>
              <a:t>Dataset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77FC92-1ECC-68BD-9751-B82CD7ED7E44}"/>
              </a:ext>
            </a:extLst>
          </p:cNvPr>
          <p:cNvSpPr/>
          <p:nvPr/>
        </p:nvSpPr>
        <p:spPr>
          <a:xfrm>
            <a:off x="2682249" y="5401084"/>
            <a:ext cx="1751528" cy="1323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/>
              <a:t> Tokenisation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A8222E-BF84-2450-AE30-DBBA7746FB34}"/>
              </a:ext>
            </a:extLst>
          </p:cNvPr>
          <p:cNvSpPr/>
          <p:nvPr/>
        </p:nvSpPr>
        <p:spPr>
          <a:xfrm>
            <a:off x="5050401" y="5408582"/>
            <a:ext cx="1833013" cy="130282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/>
              <a:t>Entrainement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CB217C3-EC23-03EA-DC9E-0CA077B0B245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1883596" y="6062804"/>
            <a:ext cx="798653" cy="7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77646A44-9F0E-84B4-19D5-C18A34491EE6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4433777" y="6059994"/>
            <a:ext cx="616624" cy="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A34D2A9-5F1A-4705-7C61-EBBE21D6B939}"/>
              </a:ext>
            </a:extLst>
          </p:cNvPr>
          <p:cNvSpPr/>
          <p:nvPr/>
        </p:nvSpPr>
        <p:spPr>
          <a:xfrm>
            <a:off x="7448998" y="5345847"/>
            <a:ext cx="1833013" cy="1323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/>
              <a:t> Prédictions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29DA60E-73A1-C6EC-3A46-DCC97B001715}"/>
              </a:ext>
            </a:extLst>
          </p:cNvPr>
          <p:cNvSpPr/>
          <p:nvPr/>
        </p:nvSpPr>
        <p:spPr>
          <a:xfrm>
            <a:off x="9973340" y="5345846"/>
            <a:ext cx="1833013" cy="132343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600" b="1" dirty="0"/>
              <a:t>Évaluation</a:t>
            </a: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885C2540-E77A-142D-3BBE-2E5A23E1990B}"/>
              </a:ext>
            </a:extLst>
          </p:cNvPr>
          <p:cNvCxnSpPr>
            <a:cxnSpLocks/>
          </p:cNvCxnSpPr>
          <p:nvPr/>
        </p:nvCxnSpPr>
        <p:spPr>
          <a:xfrm>
            <a:off x="9282477" y="6023989"/>
            <a:ext cx="6908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F39F0CED-F75C-6475-1477-34D865DF3E87}"/>
              </a:ext>
            </a:extLst>
          </p:cNvPr>
          <p:cNvCxnSpPr>
            <a:cxnSpLocks/>
          </p:cNvCxnSpPr>
          <p:nvPr/>
        </p:nvCxnSpPr>
        <p:spPr>
          <a:xfrm>
            <a:off x="6866467" y="6077799"/>
            <a:ext cx="6335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84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CB27-76CE-CEC0-29C2-81D0370A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1753BC-2DBD-43C8-9F59-A6A21605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91" y="-81151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2"/>
                </a:solidFill>
              </a:rPr>
              <a:t>Concepts techniques expliqués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16A68CF-F412-E5BB-C7B3-CFBB1E44F57E}"/>
              </a:ext>
            </a:extLst>
          </p:cNvPr>
          <p:cNvCxnSpPr>
            <a:cxnSpLocks/>
          </p:cNvCxnSpPr>
          <p:nvPr/>
        </p:nvCxnSpPr>
        <p:spPr>
          <a:xfrm>
            <a:off x="0" y="988939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FB7031E-4C1C-6250-87C5-8E6562748FF1}"/>
              </a:ext>
            </a:extLst>
          </p:cNvPr>
          <p:cNvSpPr txBox="1"/>
          <p:nvPr/>
        </p:nvSpPr>
        <p:spPr>
          <a:xfrm>
            <a:off x="1048896" y="3939436"/>
            <a:ext cx="106794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. </a:t>
            </a:r>
            <a:r>
              <a:rPr lang="fr-FR" sz="2400" b="1" dirty="0" err="1"/>
              <a:t>Embeddings</a:t>
            </a:r>
            <a:r>
              <a:rPr lang="fr-FR" sz="2400" dirty="0"/>
              <a:t> : Chaque </a:t>
            </a:r>
            <a:r>
              <a:rPr lang="fr-FR" sz="2400" b="1" dirty="0" err="1">
                <a:solidFill>
                  <a:srgbClr val="FF0000"/>
                </a:solidFill>
              </a:rPr>
              <a:t>token</a:t>
            </a:r>
            <a:r>
              <a:rPr lang="fr-FR" sz="2400" dirty="0"/>
              <a:t> devient un vecteur sémantique, géré par BART.</a:t>
            </a:r>
          </a:p>
          <a:p>
            <a:endParaRPr lang="fr-FR" sz="28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F1113AF-40D5-0284-0766-B8DD06FDEFB6}"/>
              </a:ext>
            </a:extLst>
          </p:cNvPr>
          <p:cNvSpPr txBox="1"/>
          <p:nvPr/>
        </p:nvSpPr>
        <p:spPr>
          <a:xfrm>
            <a:off x="326894" y="1156678"/>
            <a:ext cx="546682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. Tokenisation</a:t>
            </a:r>
            <a:r>
              <a:rPr lang="fr-FR" sz="2400" dirty="0"/>
              <a:t> : Transforme le texte en nombres </a:t>
            </a:r>
            <a:r>
              <a:rPr lang="fr-FR" sz="2400" b="1" dirty="0">
                <a:solidFill>
                  <a:srgbClr val="FF0000"/>
                </a:solidFill>
              </a:rPr>
              <a:t>(</a:t>
            </a:r>
            <a:r>
              <a:rPr lang="fr-FR" sz="2400" b="1" dirty="0" err="1">
                <a:solidFill>
                  <a:srgbClr val="FF0000"/>
                </a:solidFill>
              </a:rPr>
              <a:t>input_ids</a:t>
            </a:r>
            <a:r>
              <a:rPr lang="fr-FR" sz="2400" b="1" dirty="0">
                <a:solidFill>
                  <a:srgbClr val="FF0000"/>
                </a:solidFill>
              </a:rPr>
              <a:t>) </a:t>
            </a:r>
            <a:r>
              <a:rPr lang="fr-FR" sz="2400" dirty="0"/>
              <a:t>et ajoute un masque </a:t>
            </a:r>
            <a:r>
              <a:rPr lang="fr-FR" sz="2400" b="1" dirty="0">
                <a:solidFill>
                  <a:srgbClr val="FF0000"/>
                </a:solidFill>
              </a:rPr>
              <a:t>(</a:t>
            </a:r>
            <a:r>
              <a:rPr lang="fr-FR" sz="2400" b="1" dirty="0" err="1">
                <a:solidFill>
                  <a:srgbClr val="FF0000"/>
                </a:solidFill>
              </a:rPr>
              <a:t>attention_mask</a:t>
            </a:r>
            <a:r>
              <a:rPr lang="fr-FR" sz="2400" b="1" dirty="0">
                <a:solidFill>
                  <a:srgbClr val="FF0000"/>
                </a:solidFill>
              </a:rPr>
              <a:t>) </a:t>
            </a:r>
            <a:r>
              <a:rPr lang="fr-FR" sz="2400" dirty="0"/>
              <a:t>pour ignorer le padding.</a:t>
            </a:r>
          </a:p>
          <a:p>
            <a:endParaRPr lang="fr-FR" sz="2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72D8EE5-31A7-A99F-FB45-2354BAAEEAB2}"/>
              </a:ext>
            </a:extLst>
          </p:cNvPr>
          <p:cNvSpPr txBox="1"/>
          <p:nvPr/>
        </p:nvSpPr>
        <p:spPr>
          <a:xfrm>
            <a:off x="6332432" y="1156678"/>
            <a:ext cx="54668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. Attention</a:t>
            </a:r>
            <a:r>
              <a:rPr lang="fr-FR" sz="2400" dirty="0"/>
              <a:t> : Le modèle relie les mots importants, par exemple ‘chat’ à ‘dort’ dans ‘Le chat dort.’</a:t>
            </a:r>
          </a:p>
          <a:p>
            <a:endParaRPr lang="fr-FR" sz="28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B6469AF-F30B-EF75-DCA4-E34025AAC544}"/>
              </a:ext>
            </a:extLst>
          </p:cNvPr>
          <p:cNvSpPr txBox="1"/>
          <p:nvPr/>
        </p:nvSpPr>
        <p:spPr>
          <a:xfrm>
            <a:off x="6332432" y="2613392"/>
            <a:ext cx="55326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. Fine-tuning</a:t>
            </a:r>
            <a:r>
              <a:rPr lang="fr-FR" sz="2400" dirty="0"/>
              <a:t> : Ajuste un modèle général à DialogSum pour qu’il apprenne les spécificités des dialogues.</a:t>
            </a:r>
          </a:p>
          <a:p>
            <a:endParaRPr lang="fr-FR" sz="2800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A1685A8-9252-4D9B-9AF6-1FACE3AB8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92" y="2898097"/>
            <a:ext cx="600554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400" b="1" dirty="0">
                <a:latin typeface="Arial" panose="020B0604020202020204" pitchFamily="34" charset="0"/>
              </a:rPr>
              <a:t>. </a:t>
            </a:r>
            <a:r>
              <a:rPr lang="fr-FR" altLang="fr-FR" sz="2400" b="1" dirty="0" err="1">
                <a:latin typeface="Arial" panose="020B0604020202020204" pitchFamily="34" charset="0"/>
              </a:rPr>
              <a:t>Weight</a:t>
            </a:r>
            <a:r>
              <a:rPr lang="fr-FR" altLang="fr-FR" sz="2400" b="1" dirty="0">
                <a:latin typeface="Arial" panose="020B0604020202020204" pitchFamily="34" charset="0"/>
              </a:rPr>
              <a:t> </a:t>
            </a:r>
            <a:r>
              <a:rPr lang="fr-FR" altLang="fr-FR" sz="2400" b="1" dirty="0" err="1">
                <a:latin typeface="Arial" panose="020B0604020202020204" pitchFamily="34" charset="0"/>
              </a:rPr>
              <a:t>decay</a:t>
            </a:r>
            <a:r>
              <a:rPr lang="fr-FR" altLang="fr-FR" sz="2400" b="1" dirty="0">
                <a:latin typeface="Arial" panose="020B0604020202020204" pitchFamily="34" charset="0"/>
              </a:rPr>
              <a:t> : </a:t>
            </a:r>
            <a:r>
              <a:rPr lang="fr-FR" altLang="fr-FR" sz="2400" dirty="0">
                <a:latin typeface="Arial" panose="020B0604020202020204" pitchFamily="34" charset="0"/>
              </a:rPr>
              <a:t>Régularisation </a:t>
            </a: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</a:rPr>
              <a:t>(λ=0.01) </a:t>
            </a:r>
            <a:r>
              <a:rPr lang="fr-FR" altLang="fr-FR" sz="2400" dirty="0">
                <a:latin typeface="Arial" panose="020B0604020202020204" pitchFamily="34" charset="0"/>
              </a:rPr>
              <a:t>pour éviter le surapprentissage.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898A0C-AE97-93D9-091D-868F68C99274}"/>
              </a:ext>
            </a:extLst>
          </p:cNvPr>
          <p:cNvSpPr/>
          <p:nvPr/>
        </p:nvSpPr>
        <p:spPr>
          <a:xfrm>
            <a:off x="156771" y="4810911"/>
            <a:ext cx="2348124" cy="6209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/>
              <a:t>    "Hi, how are </a:t>
            </a:r>
            <a:r>
              <a:rPr lang="fr-FR" b="1" dirty="0" err="1"/>
              <a:t>you</a:t>
            </a:r>
            <a:r>
              <a:rPr lang="fr-FR" b="1" dirty="0"/>
              <a:t>?"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EEB5D5-D882-168C-522F-818553EA4312}"/>
              </a:ext>
            </a:extLst>
          </p:cNvPr>
          <p:cNvSpPr/>
          <p:nvPr/>
        </p:nvSpPr>
        <p:spPr>
          <a:xfrm>
            <a:off x="6742168" y="4807537"/>
            <a:ext cx="2775098" cy="6209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/>
              <a:t>  [2, 150, 10, 200, 1, 0, ...]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3685D8-8831-53AC-904B-C205327AA069}"/>
              </a:ext>
            </a:extLst>
          </p:cNvPr>
          <p:cNvSpPr/>
          <p:nvPr/>
        </p:nvSpPr>
        <p:spPr>
          <a:xfrm>
            <a:off x="9932681" y="4831988"/>
            <a:ext cx="1932425" cy="6209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/>
              <a:t> [1,1,1,1,1,0,……]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215ED-181E-BC57-E655-7A4D979565C2}"/>
              </a:ext>
            </a:extLst>
          </p:cNvPr>
          <p:cNvSpPr/>
          <p:nvPr/>
        </p:nvSpPr>
        <p:spPr>
          <a:xfrm>
            <a:off x="2771285" y="4822476"/>
            <a:ext cx="3747331" cy="6209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["&lt;s&gt;", "Hi", ",", "how", "are", "you", "?", "&lt;/s&gt;", "&lt;pad&gt;", ...]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CB6DFC8-98FB-8A36-7DF6-1802D1A9FB79}"/>
              </a:ext>
            </a:extLst>
          </p:cNvPr>
          <p:cNvSpPr txBox="1"/>
          <p:nvPr/>
        </p:nvSpPr>
        <p:spPr>
          <a:xfrm>
            <a:off x="584791" y="5452956"/>
            <a:ext cx="1804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rgbClr val="FF0000"/>
                </a:solidFill>
              </a:rPr>
              <a:t>Text</a:t>
            </a:r>
            <a:r>
              <a:rPr lang="fr-FR" sz="3200" b="1" dirty="0">
                <a:solidFill>
                  <a:srgbClr val="FF0000"/>
                </a:solidFill>
              </a:rPr>
              <a:t> Brut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C27F3A5-5B27-807C-0E0D-86175C9C8358}"/>
              </a:ext>
            </a:extLst>
          </p:cNvPr>
          <p:cNvSpPr txBox="1"/>
          <p:nvPr/>
        </p:nvSpPr>
        <p:spPr>
          <a:xfrm>
            <a:off x="7189272" y="5428505"/>
            <a:ext cx="1909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rgbClr val="FF0000"/>
                </a:solidFill>
              </a:rPr>
              <a:t>input_ids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0057CCA-9E78-8715-CE3E-2A2F30D36F90}"/>
              </a:ext>
            </a:extLst>
          </p:cNvPr>
          <p:cNvSpPr txBox="1"/>
          <p:nvPr/>
        </p:nvSpPr>
        <p:spPr>
          <a:xfrm>
            <a:off x="3696586" y="5505521"/>
            <a:ext cx="14814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Tokens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AC49EB9-B21D-BC5A-BFEF-414CF0CE5F0B}"/>
              </a:ext>
            </a:extLst>
          </p:cNvPr>
          <p:cNvSpPr txBox="1"/>
          <p:nvPr/>
        </p:nvSpPr>
        <p:spPr>
          <a:xfrm>
            <a:off x="9769425" y="5503377"/>
            <a:ext cx="2476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Attention_mask</a:t>
            </a:r>
            <a:endParaRPr lang="fr-FR" sz="2400" b="1" dirty="0">
              <a:solidFill>
                <a:srgbClr val="FF0000"/>
              </a:solidFill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D34CB0B-22BE-1E6D-0FAF-6E3FBA111890}"/>
              </a:ext>
            </a:extLst>
          </p:cNvPr>
          <p:cNvCxnSpPr>
            <a:stCxn id="19" idx="3"/>
            <a:endCxn id="28" idx="1"/>
          </p:cNvCxnSpPr>
          <p:nvPr/>
        </p:nvCxnSpPr>
        <p:spPr>
          <a:xfrm>
            <a:off x="2504895" y="5121395"/>
            <a:ext cx="266390" cy="11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B8F00236-64FD-EBF6-DFA9-136AB245A559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503035" y="5124464"/>
            <a:ext cx="429646" cy="18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CCD5D0E-1CC0-5C09-3579-DE833383A418}"/>
              </a:ext>
            </a:extLst>
          </p:cNvPr>
          <p:cNvCxnSpPr/>
          <p:nvPr/>
        </p:nvCxnSpPr>
        <p:spPr>
          <a:xfrm>
            <a:off x="6518616" y="5118021"/>
            <a:ext cx="266390" cy="11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E3CCF941-0F9F-0673-3B45-CA97E322F44C}"/>
              </a:ext>
            </a:extLst>
          </p:cNvPr>
          <p:cNvCxnSpPr>
            <a:cxnSpLocks/>
          </p:cNvCxnSpPr>
          <p:nvPr/>
        </p:nvCxnSpPr>
        <p:spPr>
          <a:xfrm>
            <a:off x="782506" y="6513696"/>
            <a:ext cx="15173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576C69A6-3F34-42B1-A2E6-2FCE05C6770B}"/>
              </a:ext>
            </a:extLst>
          </p:cNvPr>
          <p:cNvSpPr txBox="1"/>
          <p:nvPr/>
        </p:nvSpPr>
        <p:spPr>
          <a:xfrm>
            <a:off x="2299855" y="6254840"/>
            <a:ext cx="3382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Embedding</a:t>
            </a:r>
            <a:r>
              <a:rPr lang="fr-FR" sz="2400" b="1" dirty="0">
                <a:solidFill>
                  <a:srgbClr val="FF0000"/>
                </a:solidFill>
              </a:rPr>
              <a:t> : </a:t>
            </a:r>
            <a:r>
              <a:rPr lang="fr-FR" dirty="0"/>
              <a:t>Matrice 5x768</a:t>
            </a:r>
          </a:p>
        </p:txBody>
      </p:sp>
    </p:spTree>
    <p:extLst>
      <p:ext uri="{BB962C8B-B14F-4D97-AF65-F5344CB8AC3E}">
        <p14:creationId xmlns:p14="http://schemas.microsoft.com/office/powerpoint/2010/main" val="3518258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5918-B966-7CE9-119C-C3174B6A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720CE-1BE3-39C6-EFF4-2F2A4B6F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3" y="-62891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2"/>
                </a:solidFill>
              </a:rPr>
              <a:t>Résultats quantitatifs (ROUGE)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19EC185-14F7-B5CC-A862-85988F970D0A}"/>
              </a:ext>
            </a:extLst>
          </p:cNvPr>
          <p:cNvCxnSpPr>
            <a:cxnSpLocks/>
          </p:cNvCxnSpPr>
          <p:nvPr/>
        </p:nvCxnSpPr>
        <p:spPr>
          <a:xfrm>
            <a:off x="233916" y="1074000"/>
            <a:ext cx="114424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88BAC9BF-F8CB-1EE3-689A-CBE8B5A10A01}"/>
              </a:ext>
            </a:extLst>
          </p:cNvPr>
          <p:cNvSpPr txBox="1"/>
          <p:nvPr/>
        </p:nvSpPr>
        <p:spPr>
          <a:xfrm>
            <a:off x="532065" y="1682609"/>
            <a:ext cx="5656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.ROUGE (</a:t>
            </a:r>
            <a:r>
              <a:rPr lang="fr-FR" sz="2000" dirty="0" err="1"/>
              <a:t>Recall-Oriented</a:t>
            </a:r>
            <a:r>
              <a:rPr lang="fr-FR" sz="2000" dirty="0"/>
              <a:t> </a:t>
            </a:r>
            <a:r>
              <a:rPr lang="fr-FR" sz="2000" dirty="0" err="1"/>
              <a:t>Understudy</a:t>
            </a:r>
            <a:r>
              <a:rPr lang="fr-FR" sz="2000" dirty="0"/>
              <a:t> for </a:t>
            </a:r>
            <a:r>
              <a:rPr lang="fr-FR" sz="2000" dirty="0" err="1"/>
              <a:t>Gisting</a:t>
            </a:r>
            <a:r>
              <a:rPr lang="fr-FR" sz="2000" dirty="0"/>
              <a:t> Evaluation) est une métrique standard pour évaluer les résumés automatiques.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018315-9736-F757-2EAB-B4E36785A377}"/>
              </a:ext>
            </a:extLst>
          </p:cNvPr>
          <p:cNvSpPr txBox="1"/>
          <p:nvPr/>
        </p:nvSpPr>
        <p:spPr>
          <a:xfrm>
            <a:off x="393336" y="2773836"/>
            <a:ext cx="63652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Elle mesure le </a:t>
            </a:r>
            <a:r>
              <a:rPr lang="fr-FR" sz="2000" b="1" dirty="0"/>
              <a:t>chevauchement</a:t>
            </a:r>
            <a:r>
              <a:rPr lang="fr-FR" sz="2000" dirty="0"/>
              <a:t> entre les mots ou séquences du résumé généré et ceux de la référence (le résumé idéal)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EBB93EA-FF23-41AD-1A23-0D2FF0462708}"/>
              </a:ext>
            </a:extLst>
          </p:cNvPr>
          <p:cNvSpPr txBox="1"/>
          <p:nvPr/>
        </p:nvSpPr>
        <p:spPr>
          <a:xfrm>
            <a:off x="418333" y="1097401"/>
            <a:ext cx="47171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>
                <a:solidFill>
                  <a:srgbClr val="FF0000"/>
                </a:solidFill>
              </a:rPr>
              <a:t>C’est quoi ROUGE ?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3C4D372-7932-0743-01A1-050539A0B915}"/>
              </a:ext>
            </a:extLst>
          </p:cNvPr>
          <p:cNvCxnSpPr>
            <a:cxnSpLocks/>
          </p:cNvCxnSpPr>
          <p:nvPr/>
        </p:nvCxnSpPr>
        <p:spPr>
          <a:xfrm>
            <a:off x="6758575" y="1342067"/>
            <a:ext cx="0" cy="273020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6D12CDD1-54CA-3FEC-44CC-461FA1BC21A9}"/>
              </a:ext>
            </a:extLst>
          </p:cNvPr>
          <p:cNvSpPr txBox="1"/>
          <p:nvPr/>
        </p:nvSpPr>
        <p:spPr>
          <a:xfrm>
            <a:off x="8038214" y="21480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0EF9206-DCDE-8A24-269F-271618735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304" y="1204175"/>
            <a:ext cx="529469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ROUGE-1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"Compte les mots individuels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unigrammes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en commun. Ça montre si les idées clés sont présentes."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ROUGE-2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"Compte les paires de mots consécutifs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bigrammes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Ça vérifie la cohérence des phrases."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ROUGE-L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"Mesure la plus longue séquence commune (LCS). Ça évalue la structure et l’ordre du résumé."</a:t>
            </a:r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513A2293-ABF7-04D8-9674-B17AD841B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093071"/>
              </p:ext>
            </p:extLst>
          </p:nvPr>
        </p:nvGraphicFramePr>
        <p:xfrm>
          <a:off x="233916" y="5135558"/>
          <a:ext cx="61100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515">
                  <a:extLst>
                    <a:ext uri="{9D8B030D-6E8A-4147-A177-3AD203B41FA5}">
                      <a16:colId xmlns:a16="http://schemas.microsoft.com/office/drawing/2014/main" val="799048287"/>
                    </a:ext>
                  </a:extLst>
                </a:gridCol>
                <a:gridCol w="1527515">
                  <a:extLst>
                    <a:ext uri="{9D8B030D-6E8A-4147-A177-3AD203B41FA5}">
                      <a16:colId xmlns:a16="http://schemas.microsoft.com/office/drawing/2014/main" val="1933717250"/>
                    </a:ext>
                  </a:extLst>
                </a:gridCol>
                <a:gridCol w="1527515">
                  <a:extLst>
                    <a:ext uri="{9D8B030D-6E8A-4147-A177-3AD203B41FA5}">
                      <a16:colId xmlns:a16="http://schemas.microsoft.com/office/drawing/2014/main" val="4221348188"/>
                    </a:ext>
                  </a:extLst>
                </a:gridCol>
                <a:gridCol w="1527515">
                  <a:extLst>
                    <a:ext uri="{9D8B030D-6E8A-4147-A177-3AD203B41FA5}">
                      <a16:colId xmlns:a16="http://schemas.microsoft.com/office/drawing/2014/main" val="1988849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Pré-entraîné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Fine-tuné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Amélioration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435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ROUGE-1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0.161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0.329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x2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375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ROUGE-2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0.034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0.098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481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ROUGE-L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0.118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0.252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X2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795782"/>
                  </a:ext>
                </a:extLst>
              </a:tr>
            </a:tbl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547EF143-7542-DD3C-CABB-233B22DB36F0}"/>
              </a:ext>
            </a:extLst>
          </p:cNvPr>
          <p:cNvSpPr txBox="1"/>
          <p:nvPr/>
        </p:nvSpPr>
        <p:spPr>
          <a:xfrm>
            <a:off x="1127369" y="4401974"/>
            <a:ext cx="106854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J’ai comparé les deux modèles sur 100 dialogues du test set de DialogSum</a:t>
            </a:r>
          </a:p>
          <a:p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FD6DFDA-2F92-348B-F730-97772E37F2C9}"/>
              </a:ext>
            </a:extLst>
          </p:cNvPr>
          <p:cNvSpPr txBox="1"/>
          <p:nvPr/>
        </p:nvSpPr>
        <p:spPr>
          <a:xfrm>
            <a:off x="8973879" y="5449336"/>
            <a:ext cx="304756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Le fine-tuné est deux à trois fois meilleur, car il a appris les motifs de DialogSum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B747F897-77A4-1400-720B-6690E891BCA0}"/>
              </a:ext>
            </a:extLst>
          </p:cNvPr>
          <p:cNvCxnSpPr/>
          <p:nvPr/>
        </p:nvCxnSpPr>
        <p:spPr>
          <a:xfrm>
            <a:off x="6343976" y="5975498"/>
            <a:ext cx="2629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4F094376-E462-A622-1E77-247243EF8C40}"/>
              </a:ext>
            </a:extLst>
          </p:cNvPr>
          <p:cNvSpPr txBox="1"/>
          <p:nvPr/>
        </p:nvSpPr>
        <p:spPr>
          <a:xfrm>
            <a:off x="6897304" y="5653826"/>
            <a:ext cx="1808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Interprétation</a:t>
            </a:r>
          </a:p>
        </p:txBody>
      </p:sp>
    </p:spTree>
    <p:extLst>
      <p:ext uri="{BB962C8B-B14F-4D97-AF65-F5344CB8AC3E}">
        <p14:creationId xmlns:p14="http://schemas.microsoft.com/office/powerpoint/2010/main" val="267368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4AADF-D253-31D5-91F6-D3364FAE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4827E8-F933-E6CC-01D2-9A0F9A3A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75" y="0"/>
            <a:ext cx="10515600" cy="1325563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accent2"/>
                </a:solidFill>
              </a:rPr>
              <a:t>Résultats qualitatifs (Exemples)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E513D91-CAFE-8D75-3392-D91B6AFF1D2B}"/>
              </a:ext>
            </a:extLst>
          </p:cNvPr>
          <p:cNvCxnSpPr/>
          <p:nvPr/>
        </p:nvCxnSpPr>
        <p:spPr>
          <a:xfrm>
            <a:off x="232363" y="1052735"/>
            <a:ext cx="1148650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F7F1C7F0-5E0F-E637-4D6A-321FEAB40505}"/>
              </a:ext>
            </a:extLst>
          </p:cNvPr>
          <p:cNvSpPr txBox="1"/>
          <p:nvPr/>
        </p:nvSpPr>
        <p:spPr>
          <a:xfrm>
            <a:off x="834775" y="1828800"/>
            <a:ext cx="105156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Dialogue 1</a:t>
            </a:r>
            <a:r>
              <a:rPr lang="fr-FR" sz="2000" dirty="0"/>
              <a:t> : </a:t>
            </a:r>
            <a:r>
              <a:rPr lang="en-US" sz="2000" dirty="0"/>
              <a:t>Person1 asks Ms. Dawson for a memo prohibiting Instant Messaging</a:t>
            </a:r>
            <a:r>
              <a:rPr lang="fr-FR" sz="2000" dirty="0"/>
              <a:t>.</a:t>
            </a:r>
          </a:p>
          <a:p>
            <a:r>
              <a:rPr lang="fr-FR" sz="2000" b="1" dirty="0"/>
              <a:t>Référence</a:t>
            </a:r>
            <a:r>
              <a:rPr lang="fr-FR" sz="2000" dirty="0"/>
              <a:t> : </a:t>
            </a:r>
            <a:r>
              <a:rPr lang="en-US" sz="2000" dirty="0"/>
              <a:t>Ms. Dawson helps #Person1# to write a memo to inform every employee that they have to change the communication method and should not use Instant Messaging anymore.</a:t>
            </a:r>
            <a:endParaRPr lang="fr-FR" sz="20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B3A9099-DBB3-A58B-8AB8-6C8F711D39CE}"/>
              </a:ext>
            </a:extLst>
          </p:cNvPr>
          <p:cNvSpPr txBox="1"/>
          <p:nvPr/>
        </p:nvSpPr>
        <p:spPr>
          <a:xfrm>
            <a:off x="5577403" y="2742505"/>
            <a:ext cx="17588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Résultat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54F1E1A-5036-7F28-61BF-79900F833254}"/>
              </a:ext>
            </a:extLst>
          </p:cNvPr>
          <p:cNvSpPr txBox="1"/>
          <p:nvPr/>
        </p:nvSpPr>
        <p:spPr>
          <a:xfrm>
            <a:off x="789554" y="1327907"/>
            <a:ext cx="47878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Exemple du Test </a:t>
            </a:r>
            <a:r>
              <a:rPr lang="fr-FR" sz="3200" b="1" dirty="0" err="1">
                <a:solidFill>
                  <a:srgbClr val="FF0000"/>
                </a:solidFill>
              </a:rPr>
              <a:t>dataset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05B1061-31D1-A5F0-46D8-B8CC4C7518AE}"/>
              </a:ext>
            </a:extLst>
          </p:cNvPr>
          <p:cNvSpPr txBox="1"/>
          <p:nvPr/>
        </p:nvSpPr>
        <p:spPr>
          <a:xfrm>
            <a:off x="459945" y="3327280"/>
            <a:ext cx="57494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Pré-</a:t>
            </a:r>
            <a:r>
              <a:rPr lang="en-US" sz="2000" b="1" dirty="0" err="1"/>
              <a:t>entraîné</a:t>
            </a:r>
            <a:r>
              <a:rPr lang="en-US" sz="2000" b="1" dirty="0"/>
              <a:t>: </a:t>
            </a:r>
            <a:r>
              <a:rPr lang="en-US" sz="1600" dirty="0"/>
              <a:t>#Person1#: Ms. Dawson, I need you to take a dictation for me. Are you ready?#Person2#: Yes, sir... I need to get this memo typed up and distributed to all employees before 4 pm.#Person3#: This should go out as an intra-office memorandum. I want this memo to go out in this office by this afternoon. Have I got it ready?*#Person4#: Is that all?*** * *#Person5#: No. No, sir. Go ahead. ** * ##Person6#: Attention all staff... Effective immediately, all office communications are restricted to email correspondence and official memos. The use of Instant</a:t>
            </a:r>
          </a:p>
          <a:p>
            <a:endParaRPr lang="fr-FR" sz="16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021FD43-BAD2-A7B7-FE24-BB6114D98D3B}"/>
              </a:ext>
            </a:extLst>
          </p:cNvPr>
          <p:cNvSpPr txBox="1"/>
          <p:nvPr/>
        </p:nvSpPr>
        <p:spPr>
          <a:xfrm>
            <a:off x="6879265" y="3573252"/>
            <a:ext cx="53127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Fine-</a:t>
            </a:r>
            <a:r>
              <a:rPr lang="en-US" sz="2400" b="1" dirty="0" err="1"/>
              <a:t>tuné</a:t>
            </a:r>
            <a:r>
              <a:rPr lang="en-US" sz="2400" b="1" dirty="0"/>
              <a:t>: </a:t>
            </a:r>
            <a:r>
              <a:rPr lang="en-US" sz="1800" dirty="0"/>
              <a:t>#Person1# gives Ms. Dawson a dictation and tells her that all office communications are restricted to email correspondence and official memos. The use of instant messaging during working hours is strictly prohibited.</a:t>
            </a:r>
            <a:endParaRPr lang="fr-FR" sz="1800" dirty="0"/>
          </a:p>
          <a:p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F1A38AD-93F0-5F4C-656C-C15DA3666CC4}"/>
              </a:ext>
            </a:extLst>
          </p:cNvPr>
          <p:cNvSpPr txBox="1"/>
          <p:nvPr/>
        </p:nvSpPr>
        <p:spPr>
          <a:xfrm>
            <a:off x="2501044" y="6025839"/>
            <a:ext cx="917045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Confirmation : </a:t>
            </a:r>
            <a:r>
              <a:rPr lang="fr-FR" sz="2800" dirty="0"/>
              <a:t>Le fine-tuné est plus concis et pertinent.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504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4DB8-3250-A588-1CC6-2E3A5D21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49A1C-26B0-7592-6DD4-27C29798C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223" y="88904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2"/>
                </a:solidFill>
              </a:rPr>
              <a:t>Conclusion et perspectives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09B05E6-E28E-9BF4-0FEB-9FCF3172F208}"/>
              </a:ext>
            </a:extLst>
          </p:cNvPr>
          <p:cNvCxnSpPr/>
          <p:nvPr/>
        </p:nvCxnSpPr>
        <p:spPr>
          <a:xfrm>
            <a:off x="147303" y="1286651"/>
            <a:ext cx="1148650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7B14C2C8-48C0-D9F7-03C6-FFA10D7A23BF}"/>
              </a:ext>
            </a:extLst>
          </p:cNvPr>
          <p:cNvSpPr txBox="1"/>
          <p:nvPr/>
        </p:nvSpPr>
        <p:spPr>
          <a:xfrm>
            <a:off x="924674" y="3837660"/>
            <a:ext cx="1847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dirty="0"/>
          </a:p>
          <a:p>
            <a:endParaRPr lang="fr-FR" sz="28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5D0DECB-5392-071C-FE3F-FA27CB8B92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8860" y="1578843"/>
            <a:ext cx="1118580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Conclusion : </a:t>
            </a:r>
            <a:r>
              <a:rPr lang="fr-FR" sz="2800" dirty="0"/>
              <a:t>Notre modèle fine-tuné surpasse le pré-entraîné sur DialogSum, avec des scores ROUGE deux à trois fois meilleurs et des résumés plus pertinents.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7B4145F-E58C-5E02-A815-55AAA907007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8860" y="3035881"/>
            <a:ext cx="87257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Perspectives: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C4315101-377A-59FF-7EB2-4030F0616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56199"/>
              </p:ext>
            </p:extLst>
          </p:nvPr>
        </p:nvGraphicFramePr>
        <p:xfrm>
          <a:off x="914400" y="3686916"/>
          <a:ext cx="945410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367">
                  <a:extLst>
                    <a:ext uri="{9D8B030D-6E8A-4147-A177-3AD203B41FA5}">
                      <a16:colId xmlns:a16="http://schemas.microsoft.com/office/drawing/2014/main" val="3539129716"/>
                    </a:ext>
                  </a:extLst>
                </a:gridCol>
                <a:gridCol w="3151367">
                  <a:extLst>
                    <a:ext uri="{9D8B030D-6E8A-4147-A177-3AD203B41FA5}">
                      <a16:colId xmlns:a16="http://schemas.microsoft.com/office/drawing/2014/main" val="2788681332"/>
                    </a:ext>
                  </a:extLst>
                </a:gridCol>
                <a:gridCol w="3151367">
                  <a:extLst>
                    <a:ext uri="{9D8B030D-6E8A-4147-A177-3AD203B41FA5}">
                      <a16:colId xmlns:a16="http://schemas.microsoft.com/office/drawing/2014/main" val="524401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Perspective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Objectif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Méthode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50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Plus d’époques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 de nuances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num_train_epochs</a:t>
                      </a:r>
                      <a:r>
                        <a:rPr lang="fr-FR" dirty="0"/>
                        <a:t>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81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Bart-large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 de capacité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Charger </a:t>
                      </a:r>
                      <a:r>
                        <a:rPr lang="fr-FR" dirty="0" err="1"/>
                        <a:t>facebook</a:t>
                      </a:r>
                      <a:r>
                        <a:rPr lang="fr-FR" dirty="0"/>
                        <a:t>/</a:t>
                      </a:r>
                      <a:r>
                        <a:rPr lang="fr-FR" dirty="0" err="1"/>
                        <a:t>bart</a:t>
                      </a:r>
                      <a:r>
                        <a:rPr lang="fr-FR" dirty="0"/>
                        <a:t>-large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51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Autres </a:t>
                      </a:r>
                      <a:r>
                        <a:rPr lang="fr-FR" dirty="0" err="1"/>
                        <a:t>datasets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Généralisation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Tester CNN/</a:t>
                      </a:r>
                      <a:r>
                        <a:rPr lang="fr-FR" dirty="0" err="1"/>
                        <a:t>DailyMail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57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Hyperparamètres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Meilleure convergence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Ajuster </a:t>
                      </a:r>
                      <a:r>
                        <a:rPr lang="fr-FR" dirty="0" err="1"/>
                        <a:t>learning_rate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63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Génération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Résumés plus détaillés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Modifier </a:t>
                      </a:r>
                      <a:r>
                        <a:rPr lang="fr-FR" dirty="0" err="1"/>
                        <a:t>max_length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51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953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AF6D2C7-3478-CCF7-0F67-2E2AC623750A}"/>
              </a:ext>
            </a:extLst>
          </p:cNvPr>
          <p:cNvSpPr txBox="1"/>
          <p:nvPr/>
        </p:nvSpPr>
        <p:spPr>
          <a:xfrm>
            <a:off x="2807208" y="2598003"/>
            <a:ext cx="74217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>
                <a:solidFill>
                  <a:srgbClr val="FF0000"/>
                </a:solidFill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545363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947</Words>
  <Application>Microsoft Office PowerPoint</Application>
  <PresentationFormat>Grand écran</PresentationFormat>
  <Paragraphs>113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Présentation PowerPoint</vt:lpstr>
      <vt:lpstr>Architecture Choisie : BART (Encoder-Decoder)</vt:lpstr>
      <vt:lpstr>Outils utilisés</vt:lpstr>
      <vt:lpstr>Dataset : DialogSum</vt:lpstr>
      <vt:lpstr>Méthodologie (Étapes du projet)</vt:lpstr>
      <vt:lpstr>Concepts techniques expliqués</vt:lpstr>
      <vt:lpstr>Résultats quantitatifs (ROUGE)</vt:lpstr>
      <vt:lpstr>Résultats qualitatifs (Exemples)</vt:lpstr>
      <vt:lpstr>Conclusion et perspectives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kebir</dc:creator>
  <cp:lastModifiedBy>youssef boulghalegh</cp:lastModifiedBy>
  <cp:revision>7</cp:revision>
  <dcterms:created xsi:type="dcterms:W3CDTF">2025-02-26T20:53:03Z</dcterms:created>
  <dcterms:modified xsi:type="dcterms:W3CDTF">2025-03-07T10:04:39Z</dcterms:modified>
</cp:coreProperties>
</file>